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900000">
            <a:off x="8686800" y="-1371600"/>
            <a:ext cx="5029200" cy="5029200"/>
          </a:xfrm>
          <a:prstGeom prst="ellipse">
            <a:avLst/>
          </a:prstGeom>
          <a:solidFill>
            <a:srgbClr val="15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22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商业计划书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BUSINESS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公司名称  |  日期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4754880"/>
            <a:ext cx="1828800" cy="457200"/>
          </a:xfrm>
          <a:prstGeom prst="roundRect">
            <a:avLst/>
          </a:prstGeom>
          <a:solidFill>
            <a:srgbClr val="15356E"/>
          </a:solidFill>
          <a:ln w="12700">
            <a:solidFill>
              <a:srgbClr val="3B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B82F6"/>
                </a:solidFill>
              </a:defRPr>
            </a:pPr>
            <a:r>
              <a:t>🔒  机密文件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目  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CONTENTS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71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项目概述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项目背景、愿景与核心价值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029968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299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市场分析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860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行业趋势、目标市场与竞争格局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688336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883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产品与解决方案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44368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核心产品、技术架构与竞争优势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346704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4670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商业模式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0273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收入来源、定价策略与盈利预测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005072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050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团队介绍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61104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核心团队背景与组织架构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663439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634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财务规划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1947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融资需求、财务预测与投资回报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32180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2180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A"/>
                </a:solidFill>
              </a:defRPr>
            </a:pPr>
            <a:r>
              <a:t>发展规划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778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里程碑、扩张策略与风险应对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097280"/>
            <a:ext cx="2130552" cy="5029200"/>
          </a:xfrm>
          <a:prstGeom prst="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市场数据分析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Market Data &amp; Key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73152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A56DB"/>
                </a:solidFill>
              </a:defRPr>
            </a:pPr>
            <a: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¥ 50亿+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可触达市场规模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03320" y="1600200"/>
            <a:ext cx="73152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A56DB"/>
                </a:solidFill>
              </a:defRPr>
            </a:pPr>
            <a:r>
              <a:t>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560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年复合增长率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600200"/>
            <a:ext cx="73152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A56DB"/>
                </a:solidFill>
              </a:defRPr>
            </a:pPr>
            <a:r>
              <a:t>Target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200万+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目标用户数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72600" y="1600200"/>
            <a:ext cx="73152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A56DB"/>
                </a:solidFill>
              </a:defRPr>
            </a:pPr>
            <a:r>
              <a:t>ARPU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¥ 850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60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客单价 (ARPU)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D6E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56DB"/>
                </a:solidFill>
              </a:defRPr>
            </a:pPr>
            <a:r>
              <a:t>📊  在此处插入数据图表（柱状图 / 折线图 / 饼图）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项目里程碑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Project Timeline &amp; Milestones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3327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74520" y="301752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371600"/>
            <a:ext cx="19202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2026 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783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项目启动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6B7280"/>
                </a:solidFill>
              </a:defRPr>
            </a:pPr>
            <a:r>
              <a:t>完成市场调研与</a:t>
            </a:r>
            <a:br/>
            <a:r>
              <a:t>产品原型设计</a:t>
            </a:r>
          </a:p>
        </p:txBody>
      </p:sp>
      <p:sp>
        <p:nvSpPr>
          <p:cNvPr id="15" name="Oval 14"/>
          <p:cNvSpPr/>
          <p:nvPr/>
        </p:nvSpPr>
        <p:spPr>
          <a:xfrm>
            <a:off x="3977640" y="301752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0" y="3657600"/>
            <a:ext cx="19202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794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2026 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MVP 上线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434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6B7280"/>
                </a:solidFill>
              </a:defRPr>
            </a:pPr>
            <a:r>
              <a:t>核心功能开发完成</a:t>
            </a:r>
            <a:br/>
            <a:r>
              <a:t>首批种子用户获取</a:t>
            </a:r>
          </a:p>
        </p:txBody>
      </p:sp>
      <p:sp>
        <p:nvSpPr>
          <p:cNvPr id="20" name="Oval 19"/>
          <p:cNvSpPr/>
          <p:nvPr/>
        </p:nvSpPr>
        <p:spPr>
          <a:xfrm>
            <a:off x="6080759" y="301752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79" y="1371600"/>
            <a:ext cx="19202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39" y="1508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2026 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39" y="1783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产品迭代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39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6B7280"/>
                </a:solidFill>
              </a:defRPr>
            </a:pPr>
            <a:r>
              <a:t>用户反馈驱动优化</a:t>
            </a:r>
            <a:br/>
            <a:r>
              <a:t>付费转化率突破 5%</a:t>
            </a:r>
          </a:p>
        </p:txBody>
      </p:sp>
      <p:sp>
        <p:nvSpPr>
          <p:cNvPr id="25" name="Oval 24"/>
          <p:cNvSpPr/>
          <p:nvPr/>
        </p:nvSpPr>
        <p:spPr>
          <a:xfrm>
            <a:off x="8183880" y="30175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3657600"/>
            <a:ext cx="19202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794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2026 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规模增长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434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6B7280"/>
                </a:solidFill>
              </a:defRPr>
            </a:pPr>
            <a:r>
              <a:t>用户突破 10 万</a:t>
            </a:r>
            <a:br/>
            <a:r>
              <a:t>启动 A 轮融资</a:t>
            </a:r>
          </a:p>
        </p:txBody>
      </p:sp>
      <p:sp>
        <p:nvSpPr>
          <p:cNvPr id="30" name="Oval 29"/>
          <p:cNvSpPr/>
          <p:nvPr/>
        </p:nvSpPr>
        <p:spPr>
          <a:xfrm>
            <a:off x="10286999" y="30175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18319" y="1371600"/>
            <a:ext cx="19202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79" y="1508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2027 Q1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79" y="1783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市场扩张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79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6B7280"/>
                </a:solidFill>
              </a:defRPr>
            </a:pPr>
            <a:r>
              <a:t>拓展 3 个新城市</a:t>
            </a:r>
            <a:br/>
            <a:r>
              <a:t>团队扩充至 30 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Meet Our Team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1463040"/>
            <a:ext cx="1280160" cy="1280160"/>
          </a:xfrm>
          <a:prstGeom prst="ellipse">
            <a:avLst/>
          </a:prstGeom>
          <a:solidFill>
            <a:srgbClr val="D6E4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A"/>
                </a:solidFill>
              </a:defRPr>
            </a:pPr>
            <a:r>
              <a:t>张伟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56DB"/>
                </a:solidFill>
              </a:defRPr>
            </a:pPr>
            <a:r>
              <a:t>CEO / 创始人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000">
                <a:solidFill>
                  <a:srgbClr val="6B7280"/>
                </a:solidFill>
              </a:defRPr>
            </a:pPr>
            <a:r>
              <a:t>10年互联网行业经验</a:t>
            </a:r>
            <a:br/>
            <a:r>
              <a:t>前阿里巴巴产品总监</a:t>
            </a:r>
            <a:br/>
            <a:r>
              <a:t>北京大学 MBA</a:t>
            </a:r>
          </a:p>
        </p:txBody>
      </p:sp>
      <p:sp>
        <p:nvSpPr>
          <p:cNvPr id="13" name="Oval 12"/>
          <p:cNvSpPr/>
          <p:nvPr/>
        </p:nvSpPr>
        <p:spPr>
          <a:xfrm>
            <a:off x="4160519" y="1463040"/>
            <a:ext cx="1280160" cy="1280160"/>
          </a:xfrm>
          <a:prstGeom prst="ellipse">
            <a:avLst/>
          </a:prstGeom>
          <a:solidFill>
            <a:srgbClr val="D6E4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A"/>
                </a:solidFill>
              </a:defRPr>
            </a:pPr>
            <a:r>
              <a:t>李娜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56DB"/>
                </a:solidFill>
              </a:defRPr>
            </a:pPr>
            <a: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611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000">
                <a:solidFill>
                  <a:srgbClr val="6B7280"/>
                </a:solidFill>
              </a:defRPr>
            </a:pPr>
            <a:r>
              <a:t>15年技术研发经验</a:t>
            </a:r>
            <a:br/>
            <a:r>
              <a:t>前腾讯高级架构师</a:t>
            </a:r>
            <a:br/>
            <a:r>
              <a:t>清华计算机博士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1463040"/>
            <a:ext cx="1280160" cy="1280160"/>
          </a:xfrm>
          <a:prstGeom prst="ellipse">
            <a:avLst/>
          </a:prstGeom>
          <a:solidFill>
            <a:srgbClr val="D6E4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A"/>
                </a:solidFill>
              </a:defRPr>
            </a:pPr>
            <a:r>
              <a:t>王磊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56DB"/>
                </a:solidFill>
              </a:defRPr>
            </a:pPr>
            <a:r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000">
                <a:solidFill>
                  <a:srgbClr val="6B7280"/>
                </a:solidFill>
              </a:defRPr>
            </a:pPr>
            <a:r>
              <a:t>8年运营管理经验</a:t>
            </a:r>
            <a:br/>
            <a:r>
              <a:t>前美团区域负责人</a:t>
            </a:r>
            <a:br/>
            <a:r>
              <a:t>复旦 EMBA</a:t>
            </a:r>
          </a:p>
        </p:txBody>
      </p:sp>
      <p:sp>
        <p:nvSpPr>
          <p:cNvPr id="21" name="Oval 20"/>
          <p:cNvSpPr/>
          <p:nvPr/>
        </p:nvSpPr>
        <p:spPr>
          <a:xfrm>
            <a:off x="9921239" y="1463040"/>
            <a:ext cx="1280160" cy="1280160"/>
          </a:xfrm>
          <a:prstGeom prst="ellipse">
            <a:avLst/>
          </a:prstGeom>
          <a:solidFill>
            <a:srgbClr val="D6E4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A"/>
                </a:solidFill>
              </a:defRPr>
            </a:pPr>
            <a:r>
              <a:t>陈静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56DB"/>
                </a:solidFill>
              </a:defRPr>
            </a:pPr>
            <a:r>
              <a:t>CMO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3611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000">
                <a:solidFill>
                  <a:srgbClr val="6B7280"/>
                </a:solidFill>
              </a:defRPr>
            </a:pPr>
            <a:r>
              <a:t>12年市场营销经验</a:t>
            </a:r>
            <a:br/>
            <a:r>
              <a:t>前字节跳动品牌总监</a:t>
            </a:r>
            <a:br/>
            <a:r>
              <a:t>海外留学背景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SWOT 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Strategic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 优势  — 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核心技术壁垒高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团队执行能力强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先发市场优势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3949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 劣势  —  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574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品牌知名度较低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603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初期资金有限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632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渠道建设需时间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53949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 机会  — 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6343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市场高速增长期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5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政策红利支持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6927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技术升级窗口期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977639"/>
            <a:ext cx="53949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 威胁  —  Threats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66343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巨头可能入场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16635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技术快速迭代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66927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A"/>
                </a:solidFill>
              </a:defRPr>
            </a:pPr>
            <a:r>
              <a:t>•  人才竞争激烈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财务规划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Financial Projections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融资需求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371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5B"/>
                </a:solidFill>
              </a:defRPr>
            </a:pPr>
            <a:r>
              <a:t>¥ 500 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109728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56DB"/>
                </a:solidFill>
              </a:defRPr>
            </a:pPr>
            <a:r>
              <a:t>天使轮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28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用于产品研发与市场推广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240280"/>
            <a:ext cx="103327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预计收入 (Year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231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5B"/>
                </a:solidFill>
              </a:defRPr>
            </a:pPr>
            <a:r>
              <a:t>¥ 800 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109728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56DB"/>
                </a:solidFill>
              </a:defRPr>
            </a:pPr>
            <a:r>
              <a:t>保守预估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基于当前市场增速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91840"/>
            <a:ext cx="103327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毛利率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4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5B"/>
                </a:solidFill>
              </a:defRPr>
            </a:pPr>
            <a:r>
              <a:t>65%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520440"/>
            <a:ext cx="109728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56DB"/>
                </a:solidFill>
              </a:defRPr>
            </a:pPr>
            <a:r>
              <a:t>目标值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931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行业平均 55-60%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343400"/>
            <a:ext cx="103327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7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投资回报期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52627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5B"/>
                </a:solidFill>
              </a:defRPr>
            </a:pPr>
            <a:r>
              <a:t>18 个月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1999"/>
            <a:ext cx="1097280" cy="2743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56DB"/>
                </a:solidFill>
              </a:defRPr>
            </a:pPr>
            <a:r>
              <a:t>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9834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含 6 个月缓冲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572000"/>
            <a:ext cx="3931920" cy="1645920"/>
          </a:xfrm>
          <a:prstGeom prst="round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A56DB"/>
                </a:solidFill>
              </a:defRPr>
            </a:pPr>
            <a:r>
              <a:t>📈  插入收入增长趋势图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发展战略路线图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Strategic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1  |  夯实基础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56DB"/>
                </a:solidFill>
              </a:defRPr>
            </a:pPr>
            <a:r>
              <a:t>2026 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1.  核心产品 MVP 上线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2.  获取 1000 种子用户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3.  建立技术壁垒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2  |  快速扩张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2026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1.  用户增长至 10 万+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880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2.  推出付费版本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3.  组建销售团队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3  |  生态构建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1.  开放 API 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2.  建立合作伙伴网络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A"/>
                </a:solidFill>
              </a:defRPr>
            </a:pPr>
            <a:r>
              <a:t>3.  探索海外市场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97680" y="1463040"/>
            <a:ext cx="365760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46720" y="1463040"/>
            <a:ext cx="365760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0" tIns="50800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商业计划书  |  机密文件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"/>
            <a:ext cx="54864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竞争格局分析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Competitive Landscape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2560320" cy="5029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371600"/>
            <a:ext cx="25603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我们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5603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竞品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371600"/>
            <a:ext cx="25603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竞品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87451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A56DB"/>
                </a:solidFill>
              </a:defRPr>
            </a:pPr>
            <a:r>
              <a:t>产品成熟度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87451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A"/>
                </a:solidFill>
              </a:defRPr>
            </a:pPr>
            <a:r>
              <a:t>⭐⭐⭐⭐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7451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87451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⭐⭐⭐⭐⭐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468879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A56DB"/>
                </a:solidFill>
              </a:defRPr>
            </a:pPr>
            <a:r>
              <a:t>价格竞争力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468879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A"/>
                </a:solidFill>
              </a:defRPr>
            </a:pPr>
            <a:r>
              <a:t>⭐⭐⭐⭐⭐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79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468879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06323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A56DB"/>
                </a:solidFill>
              </a:defRPr>
            </a:pPr>
            <a:r>
              <a:t>技术壁垒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06323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A"/>
                </a:solidFill>
              </a:defRPr>
            </a:pPr>
            <a:r>
              <a:t>⭐⭐⭐⭐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6323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3063239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6576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A56DB"/>
                </a:solidFill>
              </a:defRPr>
            </a:pPr>
            <a:r>
              <a:t>用户体验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6576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A"/>
                </a:solidFill>
              </a:defRPr>
            </a:pPr>
            <a:r>
              <a:t>⭐⭐⭐⭐⭐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576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6576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51960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A56DB"/>
                </a:solidFill>
              </a:defRPr>
            </a:pPr>
            <a:r>
              <a:t>市场占有率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251960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A"/>
                </a:solidFill>
              </a:defRPr>
            </a:pPr>
            <a:r>
              <a:t>⭐⭐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51960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⭐⭐⭐⭐⭐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251960"/>
            <a:ext cx="25603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F293A"/>
                </a:solidFill>
              </a:defRPr>
            </a:pPr>
            <a:r>
              <a:t>⭐⭐⭐⭐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029200"/>
            <a:ext cx="10332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1663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>
                <a:solidFill>
                  <a:srgbClr val="0F2B5B"/>
                </a:solidFill>
              </a:defRPr>
            </a:pPr>
            <a:r>
              <a:t>💡 核心洞察：我们的最大优势在于价格竞争力与用户体验，但需要快速提升市场占有率。建议通过差异化定位和口碑传播实现突围。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5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3B82F6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联系方式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邮箱：contact@company.com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电话：400-XXX-XXXX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地址：北京市朝阳区 XXX 路 XXX 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03320"/>
            <a:ext cx="1645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