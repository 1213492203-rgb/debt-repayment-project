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05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04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工作汇报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59A69"/>
                </a:solidFill>
              </a:defRPr>
            </a:pPr>
            <a:r>
              <a:t>WORK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FA8"/>
                </a:solidFill>
              </a:defRPr>
            </a:pPr>
            <a:r>
              <a:t>汇报人：[姓名]  |  [日期]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828800" cy="27432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关键指标概览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KPIs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6517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59A69"/>
                </a:solidFill>
              </a:defRPr>
            </a:pPr>
            <a:r>
              <a:t>¥ 850万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总营收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A69"/>
                </a:solidFill>
              </a:defRPr>
            </a:pPr>
            <a:r>
              <a:t>↑12%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6517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59A69"/>
                </a:solidFill>
              </a:defRPr>
            </a:pPr>
            <a:r>
              <a:t>95.2%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客户满意度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A69"/>
                </a:solidFill>
              </a:defRPr>
            </a:pPr>
            <a:r>
              <a:t>↑3%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6517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59A69"/>
                </a:solidFill>
              </a:defRPr>
            </a:pPr>
            <a:r>
              <a:t>1,245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新增客户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A69"/>
                </a:solidFill>
              </a:defRPr>
            </a:pPr>
            <a:r>
              <a:t>↑28%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645920"/>
            <a:ext cx="26517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59A69"/>
                </a:solidFill>
              </a:defRPr>
            </a:pPr>
            <a:r>
              <a:t>18天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平均交付周期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A69"/>
                </a:solidFill>
              </a:defRPr>
            </a:pPr>
            <a:r>
              <a:t>↓5天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1106424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59A69"/>
                </a:solidFill>
              </a:defRPr>
            </a:pPr>
            <a:r>
              <a:t>📊  在此处插入趋势图表（折线图/柱状图）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重点项目完成情况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Key Projects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097280" cy="457200"/>
          </a:xfrm>
          <a:prstGeom prst="round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项目 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A69"/>
                </a:solidFill>
              </a:defRPr>
            </a:pPr>
            <a:r>
              <a:t>进度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20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提前 3 天交付，获得客户书面表扬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1097280" cy="457200"/>
          </a:xfrm>
          <a:prstGeom prst="round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06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项目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51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A69"/>
                </a:solidFill>
              </a:defRPr>
            </a:pPr>
            <a:r>
              <a:t>进度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26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按计划完成，质量评分 4.8/5.0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1097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进行中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11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项目 Gamma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进度 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931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当前进度超前 2 周，预计月底交付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109728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进行中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617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项目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663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进度 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937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遇到技术难点，已制定应对方案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数据分析与洞察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Data Analysis &amp;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566160" cy="45720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用户增长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200">
                <a:solidFill>
                  <a:srgbClr val="1F293A"/>
                </a:solidFill>
              </a:defRPr>
            </a:pPr>
            <a:r>
              <a:t>月活用户突破 50 万</a:t>
            </a:r>
            <a:br/>
            <a:r>
              <a:t>环比增长 23%</a:t>
            </a:r>
            <a:br/>
            <a:r>
              <a:t>同比增长 156%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566160" cy="45720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收入趋势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200">
                <a:solidFill>
                  <a:srgbClr val="1F293A"/>
                </a:solidFill>
              </a:defRPr>
            </a:pPr>
            <a:r>
              <a:t>MRR 达到 ¥120 万</a:t>
            </a:r>
            <a:br/>
            <a:r>
              <a:t>环比增长 18%</a:t>
            </a:r>
            <a:br/>
            <a:r>
              <a:t>续费率 92%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66160" cy="45720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市场拓展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200">
                <a:solidFill>
                  <a:srgbClr val="1F293A"/>
                </a:solidFill>
              </a:defRPr>
            </a:pPr>
            <a:r>
              <a:t>新进入 3 个城市</a:t>
            </a:r>
            <a:br/>
            <a:r>
              <a:t>覆盖率达 65%</a:t>
            </a:r>
            <a:br/>
            <a:r>
              <a:t>品牌搜索量 +45%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11247120" cy="21031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73A"/>
                </a:solidFill>
              </a:defRPr>
            </a:pPr>
            <a:r>
              <a:t>💡 核心洞察：</a:t>
            </a:r>
          </a:p>
          <a:p>
            <a:pPr>
              <a:lnSpc>
                <a:spcPts val="1800"/>
              </a:lnSpc>
              <a:spcBef>
                <a:spcPts val="800"/>
              </a:spcBef>
              <a:defRPr sz="1100">
                <a:solidFill>
                  <a:srgbClr val="1F293A"/>
                </a:solidFill>
              </a:defRPr>
            </a:pPr>
            <a:r>
              <a:t>1. 用户增长超预期，需加快服务端扩容以支撑 Q3 新增流量。</a:t>
            </a:r>
            <a:br/>
            <a:r>
              <a:t>2. 续费率高达 92%，证明产品价值得到认可，可适度提价。</a:t>
            </a:r>
            <a:br/>
            <a:r>
              <a:t>3. 新市场拓展顺利，建议追加本地化运营投入。</a:t>
            </a:r>
            <a:br/>
            <a:r>
              <a:t>4. 竞品动作频繁，建议 Q4 推出差异化功能保持领先。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问题与解决方案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Challenges &amp;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⚠️ 服务器稳定性不足：近期出现 3 次服务降级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59A69"/>
                </a:solidFill>
              </a:defRPr>
            </a:pPr>
            <a:r>
              <a:t>✅ 解决方案：已完成架构升级方案评审，Q3 实施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691640"/>
            <a:ext cx="1371600" cy="411480"/>
          </a:xfrm>
          <a:prstGeom prst="round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⚠️ 竞品上线同类功能：竞品 A 本月推出免费版本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59A69"/>
                </a:solidFill>
              </a:defRPr>
            </a:pPr>
            <a:r>
              <a:t>✅ 解决方案：差异化竞争：聚焦企业级 B 端客户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3063240"/>
            <a:ext cx="1371600" cy="411480"/>
          </a:xfrm>
          <a:prstGeom prst="round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进行中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⚠️ 核心员工离职风险：2 名高级工程师收到猎头邀请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59A69"/>
                </a:solidFill>
              </a:defRPr>
            </a:pPr>
            <a:r>
              <a:t>✅ 解决方案：启动股权激励 + 薪酬调整方案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4434840"/>
            <a:ext cx="1371600" cy="411480"/>
          </a:xfrm>
          <a:prstGeom prst="round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计划中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下阶段工作计划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Next Quarter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产品迭代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上线 AI 智能推荐功能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完成移动端适配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推出企业版高级套餐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74320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市场拓展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启动华东区域推广活动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参加 3 场行业峰会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建立 5 个渠道合作伙伴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74320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团队建设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招聘 8 名核心岗位人员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启动内部培训体系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80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完善绩效考核机制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371600"/>
            <a:ext cx="274320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71600"/>
            <a:ext cx="274320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财务目标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Q3 营收目标 ¥500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毛利率提升至 68%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80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A"/>
                </a:solidFill>
              </a:defRPr>
            </a:pPr>
            <a:r>
              <a:t>☐  启动 B 轮融资准备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49039"/>
            <a:ext cx="11247120" cy="2560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931920"/>
            <a:ext cx="9144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73A"/>
                </a:solidFill>
              </a:defRPr>
            </a:pPr>
            <a:r>
              <a:t>📅 时间规划</a:t>
            </a:r>
          </a:p>
          <a:p>
            <a:br/>
            <a:pPr>
              <a:lnSpc>
                <a:spcPts val="2400"/>
              </a:lnSpc>
              <a:spcBef>
                <a:spcPts val="1000"/>
              </a:spcBef>
              <a:defRPr sz="1200">
                <a:solidFill>
                  <a:srgbClr val="1F293A"/>
                </a:solidFill>
              </a:defRPr>
            </a:pPr>
            <a:r>
              <a:t>7月 · 产品迭代启动 | 8月 · 市场推广第一波 | 9月 · 团队扩充到位</a:t>
            </a:r>
            <a:br/>
            <a:r>
              <a:t>10月 · 企业版发布 | 11月 · 融资材料准备 | 12月 · 年度目标冲刺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A"/>
                </a:solidFill>
              </a:defRPr>
            </a:pPr>
            <a:r>
              <a:t>需要支持与资源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Resources &amp; Support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56616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人力需求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高级前端工程师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数据分析师 ×1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客户成功经理 ×1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56616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56616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预算需求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市场推广费 ¥50万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服务器扩容 ¥20万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46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团队培训费 ¥8万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566160" cy="411480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跨部门支持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法务：合同模板审核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财务：Q3 预算快速审批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46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▶  HR：核心岗位优先招聘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73A"/>
                </a:solidFill>
              </a:defRPr>
            </a:pPr>
            <a:r>
              <a:t>📌 期望决策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200">
                <a:solidFill>
                  <a:srgbClr val="1F293A"/>
                </a:solidFill>
              </a:defRPr>
            </a:pPr>
            <a:r>
              <a:t>1. 批准 Q3 市场推广预算 ¥50 万</a:t>
            </a:r>
            <a:br/>
            <a:r>
              <a:t>2. 确认优先招聘岗位顺序（建议：前端 &gt; 数据 &gt; 客户成功）</a:t>
            </a:r>
            <a:br/>
            <a:r>
              <a:t>3. 协调法务/财务/HR 部门在下周内完成审批流程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05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059A69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9CAFA8"/>
                </a:solidFill>
              </a:defRPr>
            </a:pPr>
            <a:r>
              <a:t>汇报人：[姓名]</a:t>
            </a:r>
            <a:br/>
            <a:r>
              <a:t>联系方式：[邮箱]  |  [电话]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520440"/>
            <a:ext cx="1371600" cy="27432"/>
          </a:xfrm>
          <a:prstGeom prst="rect">
            <a:avLst/>
          </a:prstGeom>
          <a:solidFill>
            <a:srgbClr val="05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